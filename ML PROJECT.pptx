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7" r:id="rId6"/>
    <p:sldId id="268" r:id="rId7"/>
    <p:sldId id="266" r:id="rId8"/>
    <p:sldId id="262" r:id="rId9"/>
    <p:sldId id="263" r:id="rId10"/>
    <p:sldId id="265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4088" autoAdjust="0"/>
  </p:normalViewPr>
  <p:slideViewPr>
    <p:cSldViewPr snapToGrid="0">
      <p:cViewPr varScale="1">
        <p:scale>
          <a:sx n="58" d="100"/>
          <a:sy n="58" d="100"/>
        </p:scale>
        <p:origin x="9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71903-274F-4866-9367-729F3F8FF2FF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0AF50-5DED-42E0-9B90-C4CB7A017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50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Our project is about identifying gait abnormalities using machine learning.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Gait means the way a person walks.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Certain neurological diseases can affect walking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0AF50-5DED-42E0-9B90-C4CB7A0172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22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Traditional assessment may rely on visual observation or expensive equipment.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Manual assessment is time taking.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So, our objective is to use machine learning to analyze walking sensor data and classify it into four categories: Healthy, Parkinson's disease, Huntington's disease and 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0AF50-5DED-42E0-9B90-C4CB7A0172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99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Our project considers three neurological diseases and a healthy control group.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Parkinson’s disease mainly affects movement control and can cause short, shuffling steps.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Huntington’s disease affects movement and coordination, which can result in irregular walking patterns.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ALS damages motor neurons and causes muscle weakness, which can affect foot movement and walking stability.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healthy control group provides a reference for comparing normal and abnormal gait patterns.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By learning these differences, the model attempts to classify walking data into the four categories.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0AF50-5DED-42E0-9B90-C4CB7A0172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8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First, the Stride Interval is the time between successive strides of the same foot.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Second, the Stance Interval is the time during which the foot remains in contact with the ground.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Third, the Swing Interval is the time during which the foot is lifted off the ground and moves forward.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Finally, the Double-Support Interval is the time during which both feet are in contact with the ground.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0AF50-5DED-42E0-9B90-C4CB7A0172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33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0AF50-5DED-42E0-9B90-C4CB7A0172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61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Our methodology consists of five stages.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First, in-shoe sensors collect force measurements from both feet.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Second, the continuous signals are divided into overlapping 10-second windows with a 5-second step.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Window duration: 10 seconds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Step between windows: 5 seconds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Overlap: 5 seconds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Sampling frequency: 100 readings per second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Third, features such as stride time, cadence, force measurements and variability are extracted.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Fourth, the machine-learning model analyzes these patterns.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Finally, the system predicts one of four categories: Healthy, PD, HD or 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0AF50-5DED-42E0-9B90-C4CB7A0172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8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0AF50-5DED-42E0-9B90-C4CB7A0172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12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0AF50-5DED-42E0-9B90-C4CB7A0172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3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C9166-AF8B-2D89-4E4A-45CB00705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21A26-0345-EC95-7D72-CA14168D9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12579-B00D-E18F-F82E-A71CB256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7448E-7956-CFFD-E90D-3B3B217B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98DE6-008E-EF66-17F5-B1688589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0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BB54-A56D-CA27-B275-A0FA7F10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122A2-3ABA-A0BC-E8C9-1B545AB7F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41D01-3254-7243-695A-B39AF798D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327F7-ED6C-11DF-F67D-C7D5E46C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23663-81E9-DA65-4409-3911F87C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28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BF2E-F20E-F1EA-2C5F-E3DF00E0A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7935-1FB0-2C88-1991-98A4C5D1D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6A276-83B6-F224-9D3A-E3C98000C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D4FC5-D345-1456-BB5B-2117E2B9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4471E-2A8A-60E4-7444-45E86C78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7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068A9-E217-918B-D6B9-3617F0AB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98D21-166B-C1E1-A22A-15E41CCA4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478ED-FA74-82B9-D497-C1889942B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39527-1776-939A-C4E2-96BC250C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7EAB6-8EC0-BE3B-82C7-67507A4F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134B4-0162-6E5A-17B0-BE964F7F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0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9C40-8284-529C-C1C7-DA4A7D2C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F6018-F89A-CDFB-52FC-FF863EFCE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B51EB-3753-8C2D-CF0B-DDAF797C1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C499F-55EF-B369-C7C7-41F2E740D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87CAD-A87D-49B1-9047-530383B67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ACA04-8A8C-3BD9-60CE-9FD6BA16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63FA51-A559-9996-5C6C-212C36A59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6E440B-3C1D-5431-B56A-CFE92A63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58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5952-7982-8F45-F7CB-20CBC9A55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B3C31-8D3C-C1C7-98BF-E298A4DD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02574-1BE7-D84C-7941-97624F1E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92CD0-ABC9-D82C-39B2-0BF05590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2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1408BE-6DC0-0D99-B870-58598DFD7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60C5F-2697-1668-6ADF-E7D72F0C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23395-3715-EA36-56E6-EB90E91D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82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6B0E-9AA7-DA29-51DB-275152019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47305-923C-0479-9E9E-263D88165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24BAE-D98A-2D5D-5122-3B02C5CA3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F9B7C-5890-D31E-34B4-2E36272E1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E8607-CA79-8B48-113C-236179A9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81F03-C1B0-2F86-CB52-1A3EA13B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6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39C86-B49B-BD47-49F8-66FD86000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934DD-00E1-32A2-3E87-9F726DB044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DBA51-2A46-0681-A980-7E6716676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60FE1-40E8-F173-4458-BEB716FC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4A5A5-C7C1-D3AF-FC1A-2C52C9E5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9A2C6-5E48-4BB7-7335-F986BC6A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9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4117-7206-3A95-8DEC-AAFBD8A1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3EEE7-CE7A-A24F-6A44-C259D139F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7504-27DA-88A1-80BD-0DB613BB7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902B9-0F5A-1DCF-A2E5-47DE3FE3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186CC-68A1-DA50-7423-2539AA67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1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904AD-3D4A-BD92-D0D2-D58A26C29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F6FAD-FBB5-A26C-7775-F6E2F4B34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1E868-14A1-D718-EAB0-52509546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B394B-DB02-9BC1-44C5-8AA6EF898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5EB00-E2D8-4055-EBDA-5717D7DF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0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54199-2432-8ED6-3A91-605D0A57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507EC-31BB-6B75-1D0C-48C236F9D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64EBE-44C1-95BE-0FB3-793A2D805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E3A4F-D0B8-42F5-9929-B001C3975E95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0384-2740-AFD8-9540-A11D63CFA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4C301-F3F2-B272-0B5E-40A22F6B5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64DA9-593F-45AE-AA7A-B16A81E94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6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6FE3-B82A-4FE7-A833-6864AE257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77703-4B5C-A50C-EB71-8EF10A084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Automated Identification of Gait Abnormalities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7AAE1DB-C1D4-BCB7-57E7-46025049C33B}"/>
              </a:ext>
            </a:extLst>
          </p:cNvPr>
          <p:cNvSpPr txBox="1">
            <a:spLocks/>
          </p:cNvSpPr>
          <p:nvPr/>
        </p:nvSpPr>
        <p:spPr>
          <a:xfrm>
            <a:off x="3923841" y="52578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TEAM ID- 24</a:t>
            </a:r>
          </a:p>
          <a:p>
            <a:r>
              <a:rPr lang="en-US" sz="2800" dirty="0"/>
              <a:t>PROJECT ID-28</a:t>
            </a:r>
          </a:p>
        </p:txBody>
      </p:sp>
    </p:spTree>
    <p:extLst>
      <p:ext uri="{BB962C8B-B14F-4D97-AF65-F5344CB8AC3E}">
        <p14:creationId xmlns:p14="http://schemas.microsoft.com/office/powerpoint/2010/main" val="223643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0583-7861-B877-BF96-65029F16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86DC4-177C-61EC-32B2-B23607A8B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791633" cy="435133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Gait: The way a person walks, including step timing, speed and balance.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Neurological diseases can change normal walking patterns.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Abnormalities include irregular steps, shuffling and uneven weight distribution.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gait assessment relies on visual observation or expensive motion-analysis systems.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assessment can be subjective and time-consuming.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Use Machine Learning to classify walking patterns as healthy or associated with Parkinson’s,    Huntington’s or ALS.</a:t>
            </a:r>
          </a:p>
          <a:p>
            <a:endParaRPr lang="en-US" dirty="0"/>
          </a:p>
        </p:txBody>
      </p:sp>
      <p:pic>
        <p:nvPicPr>
          <p:cNvPr id="5" name="Content Placeholder 4" descr="Person walking Vectors - Download Free High-Quality Vectors | Magnific  (formerly Freepik)">
            <a:extLst>
              <a:ext uri="{FF2B5EF4-FFF2-40B4-BE49-F238E27FC236}">
                <a16:creationId xmlns:a16="http://schemas.microsoft.com/office/drawing/2014/main" id="{3691E4CB-A72F-D214-94A4-11503B0029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551738" y="2100263"/>
            <a:ext cx="3802062" cy="380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35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35B9-57DA-A9C7-F2D6-96C7E84C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Diseases and Their Gait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9A50C-E4D8-7284-BC05-002E85DB8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Parkinson’s Disease (PD)</a:t>
            </a:r>
          </a:p>
          <a:p>
            <a:pPr marL="0" indent="0">
              <a:buNone/>
            </a:pPr>
            <a:r>
              <a:rPr lang="en-US" dirty="0"/>
              <a:t>Disease: A neurological disorder that affects movement control.</a:t>
            </a:r>
          </a:p>
          <a:p>
            <a:pPr marL="0" indent="0">
              <a:buNone/>
            </a:pPr>
            <a:r>
              <a:rPr lang="en-US" dirty="0"/>
              <a:t>Gait: Short, shuffling steps, altered walking rhythm and reduced foot force.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Huntington’s Disease (HD)</a:t>
            </a:r>
          </a:p>
          <a:p>
            <a:pPr marL="0" indent="0">
              <a:buNone/>
            </a:pPr>
            <a:r>
              <a:rPr lang="en-US" dirty="0"/>
              <a:t>Disease: An inherited neurological disorder that affects movement and coordination.</a:t>
            </a:r>
          </a:p>
          <a:p>
            <a:pPr marL="0" indent="0">
              <a:buNone/>
            </a:pPr>
            <a:r>
              <a:rPr lang="en-US" dirty="0"/>
              <a:t>Gait: Irregular steps with large variations in step timing.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Amyotrophic Lateral Sclerosis (ALS)</a:t>
            </a:r>
          </a:p>
          <a:p>
            <a:pPr marL="0" indent="0">
              <a:buNone/>
            </a:pPr>
            <a:r>
              <a:rPr lang="en-US" dirty="0"/>
              <a:t>Disease: A neurological disease that damages motor neurons and causes muscle weakness.</a:t>
            </a:r>
          </a:p>
          <a:p>
            <a:pPr marL="0" indent="0">
              <a:buNone/>
            </a:pPr>
            <a:r>
              <a:rPr lang="en-US" dirty="0"/>
              <a:t>Gait: Reduced foot force, uneven walking and prolonged stance phases.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Healthy Controls</a:t>
            </a:r>
          </a:p>
          <a:p>
            <a:pPr marL="0" indent="0">
              <a:buNone/>
            </a:pPr>
            <a:r>
              <a:rPr lang="en-US" dirty="0"/>
              <a:t>Condition: Individuals without the three targeted neurological diseases.</a:t>
            </a:r>
          </a:p>
          <a:p>
            <a:pPr marL="0" indent="0">
              <a:buNone/>
            </a:pPr>
            <a:r>
              <a:rPr lang="en-US" dirty="0"/>
              <a:t>Gait: Regular step timing, consistent rhythm and balanced left-right movement.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551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E88AE-0E87-007B-77B1-4227E0089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149" y="560286"/>
            <a:ext cx="5157787" cy="460519"/>
          </a:xfrm>
        </p:spPr>
        <p:txBody>
          <a:bodyPr/>
          <a:lstStyle/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dirty="0"/>
              <a:t>Parkinson’s Disease (PD)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F1520F2-A812-164E-AF93-3D26032B4A89}"/>
              </a:ext>
            </a:extLst>
          </p:cNvPr>
          <p:cNvSpPr txBox="1">
            <a:spLocks/>
          </p:cNvSpPr>
          <p:nvPr/>
        </p:nvSpPr>
        <p:spPr>
          <a:xfrm>
            <a:off x="584149" y="3429001"/>
            <a:ext cx="5157787" cy="4605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dirty="0"/>
              <a:t>Amyotrophic Lateral Sclerosis (ALS)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9AB5A2-5D39-451D-F600-D3BA8918D01C}"/>
              </a:ext>
            </a:extLst>
          </p:cNvPr>
          <p:cNvSpPr txBox="1">
            <a:spLocks/>
          </p:cNvSpPr>
          <p:nvPr/>
        </p:nvSpPr>
        <p:spPr>
          <a:xfrm>
            <a:off x="5741936" y="560286"/>
            <a:ext cx="5157787" cy="460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dirty="0"/>
              <a:t>Huntington’s Disease (HD)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227324D-98E7-033B-FF71-40F31FB066C2}"/>
              </a:ext>
            </a:extLst>
          </p:cNvPr>
          <p:cNvSpPr txBox="1">
            <a:spLocks/>
          </p:cNvSpPr>
          <p:nvPr/>
        </p:nvSpPr>
        <p:spPr>
          <a:xfrm>
            <a:off x="5741936" y="3428999"/>
            <a:ext cx="5157787" cy="460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dirty="0"/>
              <a:t>Healthy Controls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D8E836-4CC2-EE17-1A2B-A2FC2B899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936" y="1020803"/>
            <a:ext cx="5261344" cy="24081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D5D7E43-7822-F154-0A05-9952B3943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49" y="918934"/>
            <a:ext cx="5157787" cy="25100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89C4C2-2A75-7FE4-858B-BF644AC5D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49" y="3889514"/>
            <a:ext cx="5157787" cy="240819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52BE8A1-32FE-252C-308B-129114A485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1936" y="3889514"/>
            <a:ext cx="5865915" cy="240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67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7110-D6C4-8067-E1C0-EE9D2957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50036-B647-3942-3888-212FBF26B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79234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</a:t>
            </a:r>
            <a:r>
              <a:rPr lang="en-US" sz="2900" b="1" dirty="0"/>
              <a:t>ource: </a:t>
            </a:r>
            <a:r>
              <a:rPr lang="en-US" sz="2900" dirty="0"/>
              <a:t>PhysioNet — Gait in Neurodegenerative Disease Database</a:t>
            </a:r>
            <a:br>
              <a:rPr lang="en-US" sz="2900" dirty="0"/>
            </a:br>
            <a:r>
              <a:rPr lang="en-US" sz="2900" b="1" dirty="0"/>
              <a:t>Archive affiliation:</a:t>
            </a:r>
            <a:r>
              <a:rPr lang="en-US" sz="2900" dirty="0"/>
              <a:t> Harvard–MIT Division of Health Sciences and Technology</a:t>
            </a:r>
          </a:p>
          <a:p>
            <a:pPr marL="0" indent="0">
              <a:buNone/>
            </a:pPr>
            <a:r>
              <a:rPr lang="en-US" sz="2900" b="1" dirty="0"/>
              <a:t>Dataset Overview</a:t>
            </a:r>
          </a:p>
          <a:p>
            <a:pPr lvl="1"/>
            <a:r>
              <a:rPr lang="en-US" sz="2900" b="1" dirty="0"/>
              <a:t>Total subjects:</a:t>
            </a:r>
            <a:r>
              <a:rPr lang="en-US" sz="2900" dirty="0"/>
              <a:t> 64</a:t>
            </a:r>
          </a:p>
          <a:p>
            <a:pPr lvl="1"/>
            <a:r>
              <a:rPr lang="en-US" sz="2900" b="1" dirty="0"/>
              <a:t>Healthy Controls:</a:t>
            </a:r>
            <a:r>
              <a:rPr lang="en-US" sz="2900" dirty="0"/>
              <a:t> 16</a:t>
            </a:r>
          </a:p>
          <a:p>
            <a:pPr lvl="1"/>
            <a:r>
              <a:rPr lang="en-US" sz="2900" b="1" dirty="0"/>
              <a:t>Parkinson’s Disease:</a:t>
            </a:r>
            <a:r>
              <a:rPr lang="en-US" sz="2900" dirty="0"/>
              <a:t> 15</a:t>
            </a:r>
          </a:p>
          <a:p>
            <a:pPr lvl="1"/>
            <a:r>
              <a:rPr lang="en-US" sz="2900" b="1" dirty="0"/>
              <a:t>Huntington’s Disease:</a:t>
            </a:r>
            <a:r>
              <a:rPr lang="en-US" sz="2900" dirty="0"/>
              <a:t> 20</a:t>
            </a:r>
          </a:p>
          <a:p>
            <a:pPr lvl="1"/>
            <a:r>
              <a:rPr lang="en-US" sz="2900" b="1" dirty="0"/>
              <a:t>ALS:</a:t>
            </a:r>
            <a:r>
              <a:rPr lang="en-US" sz="2900" dirty="0"/>
              <a:t> 13</a:t>
            </a:r>
          </a:p>
          <a:p>
            <a:pPr marL="0" indent="0">
              <a:buNone/>
            </a:pPr>
            <a:r>
              <a:rPr lang="en-US" sz="2900" b="1" dirty="0"/>
              <a:t>Preprocessing — Turnaround Pause Removal</a:t>
            </a:r>
            <a:endParaRPr lang="en-US" sz="2900" dirty="0"/>
          </a:p>
          <a:p>
            <a:pPr lvl="1"/>
            <a:r>
              <a:rPr lang="en-US" sz="2900" dirty="0"/>
              <a:t>Patients walked back and forth along a 77-metre corridor.</a:t>
            </a:r>
          </a:p>
          <a:p>
            <a:pPr lvl="1"/>
            <a:r>
              <a:rPr lang="en-US" sz="2900" dirty="0"/>
              <a:t>Turning at each end caused pauses of approximately 3–4 seconds.</a:t>
            </a:r>
          </a:p>
          <a:p>
            <a:pPr lvl="1"/>
            <a:r>
              <a:rPr lang="en-US" sz="2900" dirty="0"/>
              <a:t>The code filters out these pauses to prevent them from distorting gait measurements.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90C73-11C1-BC2B-2A21-92A71D1F52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Data Collection</a:t>
            </a:r>
          </a:p>
          <a:p>
            <a:r>
              <a:rPr lang="en-US" b="1" dirty="0"/>
              <a:t>Sensors:</a:t>
            </a:r>
            <a:r>
              <a:rPr lang="en-US" dirty="0"/>
              <a:t> Force-sensitive resistors inside both shoes</a:t>
            </a:r>
          </a:p>
          <a:p>
            <a:r>
              <a:rPr lang="en-US" b="1" dirty="0"/>
              <a:t>Raw signals:</a:t>
            </a:r>
            <a:r>
              <a:rPr lang="en-US" dirty="0"/>
              <a:t> Left-foot and right-foot force-related measurements</a:t>
            </a:r>
          </a:p>
          <a:p>
            <a:r>
              <a:rPr lang="en-US" b="1" dirty="0"/>
              <a:t>Sampling frequency:</a:t>
            </a:r>
            <a:r>
              <a:rPr lang="en-US" dirty="0"/>
              <a:t> 300 Hz</a:t>
            </a:r>
          </a:p>
          <a:p>
            <a:r>
              <a:rPr lang="en-US" b="1" dirty="0"/>
              <a:t>Recording duration:</a:t>
            </a:r>
            <a:r>
              <a:rPr lang="en-US" dirty="0"/>
              <a:t> Approximately 5 minutes per subject</a:t>
            </a:r>
          </a:p>
          <a:p>
            <a:r>
              <a:rPr lang="en-US" b="1" dirty="0"/>
              <a:t>Raw samples:</a:t>
            </a:r>
            <a:r>
              <a:rPr lang="en-US" dirty="0"/>
              <a:t> Approximately 90,000 per channel per 5-minute recording</a:t>
            </a:r>
          </a:p>
          <a:p>
            <a:pPr marL="0" indent="0">
              <a:buNone/>
            </a:pPr>
            <a:r>
              <a:rPr lang="en-US" b="1" dirty="0"/>
              <a:t>Data Used in Our Model</a:t>
            </a:r>
          </a:p>
          <a:p>
            <a:r>
              <a:rPr lang="en-US" b="1" dirty="0"/>
              <a:t>File format:</a:t>
            </a:r>
            <a:r>
              <a:rPr lang="en-US" dirty="0"/>
              <a:t> .</a:t>
            </a:r>
            <a:r>
              <a:rPr lang="en-US" dirty="0" err="1"/>
              <a:t>ts</a:t>
            </a:r>
            <a:r>
              <a:rPr lang="en-US" dirty="0"/>
              <a:t> files</a:t>
            </a:r>
          </a:p>
          <a:p>
            <a:r>
              <a:rPr lang="en-US" b="1" dirty="0"/>
              <a:t>Measurements:</a:t>
            </a:r>
            <a:r>
              <a:rPr lang="en-US" dirty="0"/>
              <a:t> Stride, swing, stance and double-support intervals</a:t>
            </a:r>
          </a:p>
          <a:p>
            <a:r>
              <a:rPr lang="en-US" b="1" dirty="0"/>
              <a:t>Approach:</a:t>
            </a:r>
            <a:r>
              <a:rPr lang="en-US" dirty="0"/>
              <a:t> Feature extraction and machine-learning classification into four categories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19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84727-57C2-D0DF-4632-12646F65B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UNDERSTANDING GAIT MEASUREMENTS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0CAFD-3815-1659-9C7F-F3853CBCD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450"/>
            <a:ext cx="10515600" cy="4862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original foot sensors record force-related signals during walking. These signals are processed to derive gait measurements.</a:t>
            </a:r>
          </a:p>
          <a:p>
            <a:pPr lvl="1"/>
            <a:r>
              <a:rPr lang="en-US" b="1" dirty="0"/>
              <a:t>Stride Interval:</a:t>
            </a:r>
            <a:r>
              <a:rPr lang="en-US" dirty="0"/>
              <a:t> Time between successive strides of the same foot.</a:t>
            </a:r>
          </a:p>
          <a:p>
            <a:pPr lvl="1"/>
            <a:r>
              <a:rPr lang="en-US" b="1" dirty="0"/>
              <a:t>Stance Interval:</a:t>
            </a:r>
            <a:r>
              <a:rPr lang="en-US" dirty="0"/>
              <a:t> Time when the foot is in contact with the ground.</a:t>
            </a:r>
          </a:p>
          <a:p>
            <a:pPr lvl="1"/>
            <a:r>
              <a:rPr lang="en-US" b="1" dirty="0"/>
              <a:t>Swing Interval:</a:t>
            </a:r>
            <a:r>
              <a:rPr lang="en-US" dirty="0"/>
              <a:t> Time when the foot is off the ground.</a:t>
            </a:r>
          </a:p>
          <a:p>
            <a:pPr lvl="1"/>
            <a:r>
              <a:rPr lang="en-US" b="1" dirty="0"/>
              <a:t>Double-Support Interval:</a:t>
            </a:r>
            <a:r>
              <a:rPr lang="en-US" dirty="0"/>
              <a:t> Time when both feet are in contact with the ground.</a:t>
            </a:r>
          </a:p>
          <a:p>
            <a:pPr marL="0" indent="0">
              <a:buNone/>
            </a:pPr>
            <a:r>
              <a:rPr lang="en-US" b="1" dirty="0"/>
              <a:t>Why are these measurements useful?</a:t>
            </a:r>
            <a:endParaRPr lang="en-US" dirty="0"/>
          </a:p>
          <a:p>
            <a:pPr lvl="1"/>
            <a:r>
              <a:rPr lang="en-US" dirty="0"/>
              <a:t>They describe walking rhythm, timing and coordination, helping the machine-learning model identify differences between gait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27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C3F71F-F3CA-792E-1E53-F6F605FAB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8463" y="1137285"/>
            <a:ext cx="11435074" cy="45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49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D2B97E-2D4F-6E82-0904-4B59887A5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6770" y="396239"/>
            <a:ext cx="10538460" cy="606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DA6C-6210-1552-3A4C-B8C487FF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MACHINE LEARNING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0B8C8-023E-B881-1D5E-CDC62864E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1. Random Forest</a:t>
            </a:r>
            <a:endParaRPr lang="en-US" dirty="0"/>
          </a:p>
          <a:p>
            <a:pPr lvl="0"/>
            <a:r>
              <a:rPr lang="en-US" dirty="0"/>
              <a:t>Uses multiple decision trees for classification.</a:t>
            </a:r>
          </a:p>
          <a:p>
            <a:pPr lvl="0"/>
            <a:r>
              <a:rPr lang="en-US" dirty="0"/>
              <a:t>Learns patterns from extracted gait features.</a:t>
            </a:r>
          </a:p>
          <a:p>
            <a:pPr lvl="0"/>
            <a:r>
              <a:rPr lang="en-US" dirty="0"/>
              <a:t>Combines predictions from multiple trees to classify gait categories.</a:t>
            </a:r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err="1"/>
              <a:t>PyTorch</a:t>
            </a:r>
            <a:r>
              <a:rPr lang="en-US" b="1" dirty="0"/>
              <a:t> Neural Network</a:t>
            </a:r>
            <a:endParaRPr lang="en-US" dirty="0"/>
          </a:p>
          <a:p>
            <a:pPr lvl="0"/>
            <a:r>
              <a:rPr lang="en-US" dirty="0"/>
              <a:t>Learns complex relationships between gait features.</a:t>
            </a:r>
          </a:p>
          <a:p>
            <a:pPr lvl="0"/>
            <a:r>
              <a:rPr lang="en-US" dirty="0"/>
              <a:t>Uses layers of interconnected neurons to identify patterns.</a:t>
            </a:r>
          </a:p>
          <a:p>
            <a:pPr lvl="0"/>
            <a:r>
              <a:rPr lang="en-US" dirty="0"/>
              <a:t>Produces predictions for the four categories: Healthy, PD, HD and 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685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6857-534B-6F87-59F5-D6673C17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 AND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17FE7-36E0-8631-A8A4-68B4E6F93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911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Dataset Split</a:t>
            </a:r>
          </a:p>
          <a:p>
            <a:pPr lvl="0"/>
            <a:r>
              <a:rPr lang="en-US" dirty="0"/>
              <a:t>Training: 75%</a:t>
            </a:r>
          </a:p>
          <a:p>
            <a:pPr lvl="0"/>
            <a:r>
              <a:rPr lang="en-US" dirty="0"/>
              <a:t>Testing: 25%</a:t>
            </a:r>
          </a:p>
          <a:p>
            <a:pPr lvl="0"/>
            <a:r>
              <a:rPr lang="en-US" dirty="0"/>
              <a:t>Subject-disjoint split to evaluate performance on unseen subjects</a:t>
            </a:r>
          </a:p>
          <a:p>
            <a:pPr marL="0" indent="0">
              <a:buNone/>
            </a:pPr>
            <a:r>
              <a:rPr lang="en-US" b="1" dirty="0"/>
              <a:t>Evaluation Metrics</a:t>
            </a:r>
          </a:p>
          <a:p>
            <a:pPr lvl="0"/>
            <a:r>
              <a:rPr lang="en-US" b="1" dirty="0"/>
              <a:t>Accuracy:</a:t>
            </a:r>
            <a:r>
              <a:rPr lang="en-US" dirty="0"/>
              <a:t> ~78.44%</a:t>
            </a:r>
          </a:p>
          <a:p>
            <a:pPr lvl="0"/>
            <a:r>
              <a:rPr lang="en-US" b="1" dirty="0"/>
              <a:t>Precision:</a:t>
            </a:r>
            <a:r>
              <a:rPr lang="en-US" dirty="0"/>
              <a:t> ~78.95%</a:t>
            </a:r>
          </a:p>
          <a:p>
            <a:pPr lvl="0"/>
            <a:r>
              <a:rPr lang="en-US" b="1" dirty="0"/>
              <a:t>Recall:</a:t>
            </a:r>
            <a:r>
              <a:rPr lang="en-US" dirty="0"/>
              <a:t> ~80.19%</a:t>
            </a:r>
          </a:p>
          <a:p>
            <a:pPr lvl="0"/>
            <a:r>
              <a:rPr lang="en-US" b="1" dirty="0"/>
              <a:t>Macro F1-Score:</a:t>
            </a:r>
            <a:r>
              <a:rPr lang="en-US" dirty="0"/>
              <a:t> ~79.05%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872BA-F440-56A8-444C-81B292294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9300" y="1825625"/>
            <a:ext cx="55245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Key Observation</a:t>
            </a:r>
          </a:p>
          <a:p>
            <a:r>
              <a:rPr lang="en-US" dirty="0"/>
              <a:t>The model demonstrates promising performance in classifying gait measurements into four categories.</a:t>
            </a:r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r>
              <a:rPr lang="en-US" dirty="0"/>
              <a:t>The project uses machine learning to classify gait patterns from clinical gait measurements, with potential to support more accessible gait assessment.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92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4099737-AF8E-5F00-8850-349E0D751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145" y="383217"/>
            <a:ext cx="6995710" cy="609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981</Words>
  <Application>Microsoft Office PowerPoint</Application>
  <PresentationFormat>Widescreen</PresentationFormat>
  <Paragraphs>115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Wingdings</vt:lpstr>
      <vt:lpstr>Office Theme</vt:lpstr>
      <vt:lpstr>ML PROJECT</vt:lpstr>
      <vt:lpstr>INTRODUCTION</vt:lpstr>
      <vt:lpstr>Diseases and Their Gait Characteristics</vt:lpstr>
      <vt:lpstr>PowerPoint Presentation</vt:lpstr>
      <vt:lpstr>DATASET</vt:lpstr>
      <vt:lpstr>UNDERSTANDING GAIT MEASUREMENTS </vt:lpstr>
      <vt:lpstr>PowerPoint Presentation</vt:lpstr>
      <vt:lpstr>PowerPoint Presentation</vt:lpstr>
      <vt:lpstr>MACHINE LEARNING MODELS</vt:lpstr>
      <vt:lpstr>RESULTS AND PERFORMANCE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Nithya Suhas</dc:creator>
  <cp:lastModifiedBy>Nithya Suhas</cp:lastModifiedBy>
  <cp:revision>4</cp:revision>
  <dcterms:created xsi:type="dcterms:W3CDTF">2026-10-13T17:33:35Z</dcterms:created>
  <dcterms:modified xsi:type="dcterms:W3CDTF">2026-10-14T04:06:51Z</dcterms:modified>
</cp:coreProperties>
</file>